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9488"/>
                </a:solidFill>
                <a:latin typeface="Segoe UI"/>
              </a:rPr>
              <a:t>SMARTPOS · НӨХӨН ДҮҮРГЭЛТИЙН ҮЙЛ АЖИЛЛАГАА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00584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20 дэлгүүрийн захиалгыг</a:t>
            </a:r>
          </a:p>
          <a:p>
            <a:pPr algn="l">
              <a:lnSpc>
                <a:spcPct val="108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нэг оператор удирдана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8595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D6D3D1"/>
                </a:solidFill>
                <a:latin typeface="Segoe UI"/>
              </a:rPr>
              <a:t>Автомат нөхөн дүүргэлтийн систем нь POS борлуулалтаас эрэлтийг таамаглаж,</a:t>
            </a:r>
          </a:p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D6D3D1"/>
                </a:solidFill>
                <a:latin typeface="Segoe UI"/>
              </a:rPr>
              <a:t>захиалгыг өөрөө боловсруулж, SMS-ээр илгээнэ. Оператор нь бүх захиалгыг биш,</a:t>
            </a:r>
          </a:p>
          <a:p>
            <a:pPr algn="l">
              <a:lnSpc>
                <a:spcPct val="140000"/>
              </a:lnSpc>
            </a:pPr>
            <a:r>
              <a:rPr sz="1450" b="0" i="0">
                <a:solidFill>
                  <a:srgbClr val="D6D3D1"/>
                </a:solidFill>
                <a:latin typeface="Segoe UI"/>
              </a:rPr>
              <a:t>зөвхөн ШИЙДВЭР шаардсан цөөн тохиолдлыг хардаг.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983480"/>
            <a:ext cx="8778240" cy="1"/>
          </a:xfrm>
          <a:prstGeom prst="rect">
            <a:avLst/>
          </a:prstGeom>
          <a:solidFill>
            <a:srgbClr val="44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230368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5650992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8A29E"/>
                </a:solidFill>
                <a:latin typeface="Segoe UI"/>
              </a:rPr>
              <a:t>дэлгүүр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18688" y="5230368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1 022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8688" y="5650992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8A29E"/>
                </a:solidFill>
                <a:latin typeface="Segoe UI"/>
              </a:rPr>
              <a:t>бараа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31536" y="5230368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42 059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31536" y="5650992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8A29E"/>
                </a:solidFill>
                <a:latin typeface="Segoe UI"/>
              </a:rPr>
              <a:t>захиалгын мөр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44384" y="5230368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Segoe UI"/>
              </a:rPr>
              <a:t>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44384" y="5650992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8A29E"/>
                </a:solidFill>
                <a:latin typeface="Segoe UI"/>
              </a:rPr>
              <a:t>хоногийн түүх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623620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7534E"/>
                </a:solidFill>
                <a:latin typeface="Segoe UI"/>
              </a:rPr>
              <a:t>Бүх үзүүлэлт нь ажиллаж буй системийн 2026-08-18 өдрийн тооцооллоос шууд авсан.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D9488"/>
                </a:solidFill>
                <a:latin typeface="Segoe UI"/>
              </a:rPr>
              <a:t>АСУУДАЛ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68096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917"/>
                </a:solidFill>
                <a:latin typeface="Segoe UI"/>
              </a:rPr>
              <a:t>Захиалга нь хүний хийж чадах хэмжээнээс давсан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65815" y="640080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8A29E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65836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 i="0">
                <a:solidFill>
                  <a:srgbClr val="78716C"/>
                </a:solidFill>
                <a:latin typeface="Segoe UI"/>
              </a:rPr>
              <a:t>Нэг оператор 20 дэлгүүрийг хариуцна. Дэлгүүр бүр өдөр бүр захиалга өгнө. Бараа бүрийн шийдвэр нь тусдаа тооцоолол шаардана.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395728"/>
            <a:ext cx="1572768" cy="1078992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615184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1C1917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35808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дэлгүүр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4872" y="2670048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A8A29E"/>
                </a:solidFill>
                <a:latin typeface="Segoe UI"/>
              </a:rPr>
              <a:t>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2395728"/>
            <a:ext cx="1572768" cy="1078992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615184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1C1917"/>
                </a:solidFill>
                <a:latin typeface="Segoe UI"/>
              </a:rPr>
              <a:t>51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035808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бараа / дэлгүүр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670048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A8A29E"/>
                </a:solidFill>
                <a:latin typeface="Segoe UI"/>
              </a:rPr>
              <a:t>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2395728"/>
            <a:ext cx="1572768" cy="1078992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2615184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1C1917"/>
                </a:solidFill>
                <a:latin typeface="Segoe UI"/>
              </a:rPr>
              <a:t>өдөр бүр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3035808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давтагдана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2670048"/>
            <a:ext cx="3840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A8A29E"/>
                </a:solidFill>
                <a:latin typeface="Segoe UI"/>
              </a:rPr>
              <a:t>=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2395728"/>
            <a:ext cx="1572768" cy="1078992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269480" y="2395728"/>
            <a:ext cx="1572768" cy="1078992"/>
          </a:xfrm>
          <a:prstGeom prst="roundRect">
            <a:avLst>
              <a:gd name="adj" fmla="val 6000"/>
            </a:avLst>
          </a:prstGeom>
          <a:noFill/>
          <a:ln w="2222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2615184"/>
            <a:ext cx="157276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 i="0">
                <a:solidFill>
                  <a:srgbClr val="0D9488"/>
                </a:solidFill>
                <a:latin typeface="Segoe UI"/>
              </a:rPr>
              <a:t>~751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3035808"/>
            <a:ext cx="15727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шийдвэр / өдөр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913632"/>
            <a:ext cx="10820095" cy="1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24528"/>
            <a:ext cx="333237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8716C"/>
                </a:solidFill>
                <a:latin typeface="Segoe UI"/>
              </a:rPr>
              <a:t>Тооцоолол бүр 5 секунд гэж үзвэл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517136"/>
            <a:ext cx="33323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C1917"/>
                </a:solidFill>
                <a:latin typeface="Segoe UI"/>
              </a:rPr>
              <a:t>63 минут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333237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цэвэр өдөр тутмын ажил — зөвхөн тоо гаргахад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2498" y="4224528"/>
            <a:ext cx="333237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8716C"/>
                </a:solidFill>
                <a:latin typeface="Segoe UI"/>
              </a:rPr>
              <a:t>Бодит байдал дээр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2498" y="4517136"/>
            <a:ext cx="33323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1C1917"/>
                </a:solidFill>
                <a:latin typeface="Segoe UI"/>
              </a:rPr>
              <a:t>хийгддэггүй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2498" y="5010912"/>
            <a:ext cx="333237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оператор туршлагаараа бөөнөөр нь таамаглаж захиалдаг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9196" y="4224528"/>
            <a:ext cx="333237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8716C"/>
                </a:solidFill>
                <a:latin typeface="Segoe UI"/>
              </a:rPr>
              <a:t>Үр дүн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9196" y="4517136"/>
            <a:ext cx="333237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E11D48"/>
                </a:solidFill>
                <a:latin typeface="Segoe UI"/>
              </a:rPr>
              <a:t>2.1% хаягдал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99196" y="5010912"/>
            <a:ext cx="333237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171.9 сая ₮ — 90 хоногт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5687568"/>
            <a:ext cx="10820095" cy="713232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" y="5907024"/>
            <a:ext cx="10234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1C1917"/>
                </a:solidFill>
                <a:latin typeface="Segoe UI"/>
              </a:rPr>
              <a:t>Гол асуудал нь “хүн удаан” БИШ. </a:t>
            </a:r>
            <a:r>
              <a:rPr sz="1200" b="0">
                <a:solidFill>
                  <a:srgbClr val="1C1917"/>
                </a:solidFill>
                <a:latin typeface="Segoe UI"/>
              </a:rPr>
              <a:t>Хүн 750 шийдвэрийг тэнцүү анхаарлаар харж чадахгүй — тиймээс бүгдийг ойролцоо таамаглаж, аль нь үнэхээр анхаарал шаардаж байгааг олж хардаггүй.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D9488"/>
                </a:solidFill>
                <a:latin typeface="Segoe UI"/>
              </a:rPr>
              <a:t>СИСТЕМ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68096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917"/>
                </a:solidFill>
                <a:latin typeface="Segoe UI"/>
              </a:rPr>
              <a:t>POS дата → таамаглал → захиалга → SMS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65815" y="640080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8A29E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78716C"/>
                </a:solidFill>
                <a:latin typeface="Segoe UI"/>
              </a:rPr>
              <a:t>Дөрвөн алхам бүрэн автоматаар ажиллана. Оператор зөвхөн 4 дэх алхмын дараа гарсан ШИЙДВЭРИЙГ хянана.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2458135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286000"/>
            <a:ext cx="2458135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5237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2816352"/>
            <a:ext cx="19826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C1917"/>
                </a:solidFill>
                <a:latin typeface="Segoe UI"/>
              </a:rPr>
              <a:t>POS-оос татах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544" y="3200400"/>
            <a:ext cx="198264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20 дэлгүүрийн MSSQL-ээс өдөр тутмын борлуулалт, нөөц, хаягдал, нийлүүлэлт.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" y="4279392"/>
            <a:ext cx="1982647" cy="1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3544" y="4389120"/>
            <a:ext cx="19826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C1917"/>
                </a:solidFill>
                <a:latin typeface="Segoe UI"/>
              </a:rPr>
              <a:t>84 468 өдөр-бараа мөр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8799" y="3310128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A8A29E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3119" y="2286000"/>
            <a:ext cx="2458135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73119" y="2286000"/>
            <a:ext cx="2458135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10863" y="25237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0863" y="2816352"/>
            <a:ext cx="19826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C1917"/>
                </a:solidFill>
                <a:latin typeface="Segoe UI"/>
              </a:rPr>
              <a:t>Эрэлтийг таамаглах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10863" y="3200400"/>
            <a:ext cx="198264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Гараг, улирал, цалингийн мөчлөг, түвшний өөрчлөлт. Нөөц дууссан өдрийг эрэлтээс хасна.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10863" y="4279392"/>
            <a:ext cx="1982647" cy="1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10863" y="4389120"/>
            <a:ext cx="19826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C1917"/>
                </a:solidFill>
                <a:latin typeface="Segoe UI"/>
              </a:rPr>
              <a:t>итгэлцэл 71%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6119" y="3310128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A8A29E"/>
                </a:solidFill>
                <a:latin typeface="Segoe U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0439" y="2286000"/>
            <a:ext cx="2458135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0439" y="2286000"/>
            <a:ext cx="2458135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8183" y="25237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Segoe UI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8183" y="2816352"/>
            <a:ext cx="19826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C1917"/>
                </a:solidFill>
                <a:latin typeface="Segoe UI"/>
              </a:rPr>
              <a:t>Захиалга тооцох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8183" y="3200400"/>
            <a:ext cx="198264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(R,S) загвар — нөхөх түвшин S = эрэлт × хамрах хугацаа + аюулгүйн нөөц. Захиалга = S − одоогийн нөөц.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8183" y="4279392"/>
            <a:ext cx="1982647" cy="1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8183" y="4389120"/>
            <a:ext cx="19826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C1917"/>
                </a:solidFill>
                <a:latin typeface="Segoe UI"/>
              </a:rPr>
              <a:t>944 захиалга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3439" y="3310128"/>
            <a:ext cx="219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A8A29E"/>
                </a:solidFill>
                <a:latin typeface="Segoe UI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47759" y="2286000"/>
            <a:ext cx="2458135" cy="23957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47759" y="2286000"/>
            <a:ext cx="2458135" cy="5029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85503" y="25237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D9488"/>
                </a:solidFill>
                <a:latin typeface="Segoe UI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5503" y="2816352"/>
            <a:ext cx="198264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1C1917"/>
                </a:solidFill>
                <a:latin typeface="Segoe UI"/>
              </a:rPr>
              <a:t>SMS-ээр илгээх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5503" y="3200400"/>
            <a:ext cx="1982647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Захиалгын төвд хэсэгчлэн илгээж, хүргэгдсэнийг баталгаажуулна.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85503" y="4279392"/>
            <a:ext cx="1982647" cy="1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85503" y="4389120"/>
            <a:ext cx="19826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C1917"/>
                </a:solidFill>
                <a:latin typeface="Segoe UI"/>
              </a:rPr>
              <a:t>451 мессеж · 100% хүргэгдсэн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5029200"/>
            <a:ext cx="10820095" cy="914400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8408" y="5230368"/>
            <a:ext cx="102348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1">
                <a:solidFill>
                  <a:srgbClr val="0F766E"/>
                </a:solidFill>
                <a:latin typeface="Segoe UI"/>
              </a:rPr>
              <a:t>Демо дата нь зөвхөн ОРОЛТ. </a:t>
            </a:r>
            <a:r>
              <a:rPr sz="1150" b="0">
                <a:solidFill>
                  <a:srgbClr val="1C1917"/>
                </a:solidFill>
                <a:latin typeface="Segoe UI"/>
              </a:rPr>
              <a:t>Дэлгүүр бүрийн өдөр тутмын борлуулалтыг симуляцаар үүсгэсэн ч, захиалгыг тооцоолж буй хөдөлгүүр нь бодит үйлдвэрлэлийн код. Тиймээс “автомат vs гараар”-ын харьцуулалт нь хоёр зохиомол тооны харьцуулалт биш, жинхэнэ алгоритмын гүйцэтгэл юм.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D9488"/>
                </a:solidFill>
                <a:latin typeface="Segoe UI"/>
              </a:rPr>
              <a:t>ШИЙДВЭРИЙН САМБАР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68096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917"/>
                </a:solidFill>
                <a:latin typeface="Segoe UI"/>
              </a:rPr>
              <a:t>Оператор 20 дэлгүүр биш, 8 шийдвэр хардаг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65815" y="640080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8A29E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78716C"/>
                </a:solidFill>
                <a:latin typeface="Segoe UI"/>
              </a:rPr>
              <a:t>Систем дэлгүүр бүрийг өөрөө ангилна. Ногоон дээр оролцох шаардлагагүй — анхаарал зөвхөн үлдсэн дээр очно.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212848"/>
            <a:ext cx="2164019" cy="5669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68296"/>
            <a:ext cx="21640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C1917"/>
                </a:solidFill>
                <a:latin typeface="Segoe UI"/>
              </a:rPr>
              <a:t>~  4</a:t>
            </a:r>
          </a:p>
        </p:txBody>
      </p:sp>
      <p:sp>
        <p:nvSpPr>
          <p:cNvPr id="8" name="Rectangle 7"/>
          <p:cNvSpPr/>
          <p:nvPr/>
        </p:nvSpPr>
        <p:spPr>
          <a:xfrm>
            <a:off x="2849819" y="2212848"/>
            <a:ext cx="2164019" cy="5669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49819" y="2368296"/>
            <a:ext cx="21640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✎  4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13838" y="2212848"/>
            <a:ext cx="2164019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A8A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13838" y="2368296"/>
            <a:ext cx="21640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A8A29E"/>
                </a:solidFill>
                <a:latin typeface="Segoe UI"/>
              </a:rPr>
              <a:t>? 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77857" y="2212848"/>
            <a:ext cx="4328038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7857" y="2368296"/>
            <a:ext cx="432803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Segoe UI"/>
              </a:rPr>
              <a:t>✓ 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035808"/>
            <a:ext cx="2499283" cy="2907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05256" y="3255264"/>
            <a:ext cx="274320" cy="274320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1C1917"/>
                </a:solidFill>
                <a:latin typeface="Segoe UI"/>
              </a:rPr>
              <a:t>~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1016" y="3273552"/>
            <a:ext cx="16763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1917"/>
                </a:solidFill>
                <a:latin typeface="Segoe UI"/>
              </a:rPr>
              <a:t>4 дэлгүүр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" y="3675887"/>
            <a:ext cx="20603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59E0B"/>
                </a:solidFill>
                <a:latin typeface="Segoe UI"/>
              </a:rPr>
              <a:t>Параметрээ зас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41648"/>
            <a:ext cx="206037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Оператор ҮРГЭЛЖ нэг чигт (дандаа нэмэх эсвэл дандаа хасах) засаж байгаа бөгөөд ЗӨВ гарч байна. Энэ нь хүний мэдлэг биш, буруу тохиргоо.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" y="5394960"/>
            <a:ext cx="2060371" cy="1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5504688"/>
            <a:ext cx="20603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C1917"/>
                </a:solidFill>
                <a:latin typeface="Segoe UI"/>
              </a:rPr>
              <a:t>Системд нэг товчоор засварыг санал болгоно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459403" y="3035808"/>
            <a:ext cx="2499283" cy="2907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678859" y="3255264"/>
            <a:ext cx="274320" cy="274320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4619" y="3273552"/>
            <a:ext cx="16763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1917"/>
                </a:solidFill>
                <a:latin typeface="Segoe UI"/>
              </a:rPr>
              <a:t>4 дэлгүүр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78859" y="3675887"/>
            <a:ext cx="20603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4F46E5"/>
                </a:solidFill>
                <a:latin typeface="Segoe UI"/>
              </a:rPr>
              <a:t>Операторыг үлдээ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8859" y="4041648"/>
            <a:ext cx="206037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Засвар нь ХОЁР ТАЛЫН — хэзээ нэмэх, хэзээ хасахыг мэдэж байна. Загварт харагдахгүй мэдээлэл (сургууль, арга хэмжээ) түүнд бий.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78859" y="5394960"/>
            <a:ext cx="2060371" cy="1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78859" y="5504688"/>
            <a:ext cx="20603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C1917"/>
                </a:solidFill>
                <a:latin typeface="Segoe UI"/>
              </a:rPr>
              <a:t>Автоматжуулах гэж оролдох нь ХОР болно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3035808"/>
            <a:ext cx="2499283" cy="2907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52463" y="3255264"/>
            <a:ext cx="274320" cy="274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A8A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A8A29E"/>
                </a:solidFill>
                <a:latin typeface="Segoe UI"/>
              </a:rPr>
              <a:t>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8223" y="3273552"/>
            <a:ext cx="16763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1917"/>
                </a:solidFill>
                <a:latin typeface="Segoe UI"/>
              </a:rPr>
              <a:t>4 дэлгүүр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2463" y="3675887"/>
            <a:ext cx="20603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78716C"/>
                </a:solidFill>
                <a:latin typeface="Segoe UI"/>
              </a:rPr>
              <a:t>Эхлээд дата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2463" y="4041648"/>
            <a:ext cx="206037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2 нь POS холболт тасарсан, 2 нь саяхан нээгдсэн салбар — түүх богино. Дүгнэлт гаргах үндэслэл хүрэлцэхгүй.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52463" y="5394960"/>
            <a:ext cx="2060371" cy="1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2463" y="5504688"/>
            <a:ext cx="20603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C1917"/>
                </a:solidFill>
                <a:latin typeface="Segoe UI"/>
              </a:rPr>
              <a:t>Холболт сэргээх / дата хуримтлуулах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06611" y="3035808"/>
            <a:ext cx="2499283" cy="2907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226067" y="3255264"/>
            <a:ext cx="274320" cy="274320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91827" y="3273552"/>
            <a:ext cx="16763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1917"/>
                </a:solidFill>
                <a:latin typeface="Segoe UI"/>
              </a:rPr>
              <a:t>8 дэлгүүр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6067" y="3675887"/>
            <a:ext cx="20603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D9488"/>
                </a:solidFill>
                <a:latin typeface="Segoe UI"/>
              </a:rPr>
              <a:t>Оролцох хэрэггүй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26067" y="4041648"/>
            <a:ext cx="2060371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Нөхөлт 100%, илүүдэл бага. Оператор энд мөрийн 4–6%-д хүрсэн ч үр дүн САЙЖРААГҮЙ — хэрэггүй ажил.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226067" y="5394960"/>
            <a:ext cx="2060371" cy="1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26067" y="5504688"/>
            <a:ext cx="206037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1C1917"/>
                </a:solidFill>
                <a:latin typeface="Segoe UI"/>
              </a:rPr>
              <a:t>Цагийг энд бус, дээрх 8 дээр зарцуул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14476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8A29E"/>
                </a:solidFill>
                <a:latin typeface="Segoe UI"/>
              </a:rPr>
              <a:t>WATCH (Хянах) төлөв 0 — энэ нь гараар тавьсан биш, датанаас өөрөө гарсан үр дүн.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D9488"/>
                </a:solidFill>
                <a:latin typeface="Segoe UI"/>
              </a:rPr>
              <a:t>НОТОЛГОО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68096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917"/>
                </a:solidFill>
                <a:latin typeface="Segoe UI"/>
              </a:rPr>
              <a:t>Хөдөлгүүр гарын аргачлалыг ялсан — өнгөрсөн датан дээр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65815" y="640080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8A29E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78638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78716C"/>
                </a:solidFill>
                <a:latin typeface="Segoe UI"/>
              </a:rPr>
              <a:t>Walk-forward буцаан шалгалт: өдөр бүр зөвхөн ТЭР ӨДРИЙГ ХҮРТЭЛХ датаг ашиглан захиалга тооцоод, дараагийн өдрийн БОДИТ борлуулалттай харьцуулна.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95728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8716C"/>
                </a:solidFill>
                <a:latin typeface="Segoe UI"/>
              </a:rPr>
              <a:t>ЭРЭЛТ ХАНГАЛТЫН ХУВЬ (fill rate)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61488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1917"/>
                </a:solidFill>
                <a:latin typeface="Segoe UI"/>
              </a:rPr>
              <a:t>Хөдөлгүүр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1752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(R,S) + таамаглал + аюулгүйн нөөц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2761488"/>
            <a:ext cx="3474720" cy="384048"/>
          </a:xfrm>
          <a:prstGeom prst="rect">
            <a:avLst/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63240" y="2761488"/>
            <a:ext cx="3035894" cy="3840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3218688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Segoe UI"/>
              </a:rPr>
              <a:t>98.7%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94176"/>
            <a:ext cx="17373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C1917"/>
                </a:solidFill>
                <a:latin typeface="Segoe UI"/>
              </a:rPr>
              <a:t>Гарын аргачлал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95020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сүүлийн үеийн дундаж × нөхөх хоног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3694176"/>
            <a:ext cx="3474720" cy="384048"/>
          </a:xfrm>
          <a:prstGeom prst="rect">
            <a:avLst/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63240" y="3694176"/>
            <a:ext cx="1976466" cy="384048"/>
          </a:xfrm>
          <a:prstGeom prst="rect">
            <a:avLst/>
          </a:prstGeom>
          <a:solidFill>
            <a:srgbClr val="A8A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4151376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8716C"/>
                </a:solidFill>
                <a:latin typeface="Segoe UI"/>
              </a:rPr>
              <a:t>95.7%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4626864"/>
            <a:ext cx="3840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A8A29E"/>
                </a:solidFill>
                <a:latin typeface="Segoe UI"/>
              </a:rPr>
              <a:t>хуваарь: 90–100% (ялгааг харуулахаар томруулсан)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19472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78716C"/>
                </a:solidFill>
                <a:latin typeface="Segoe UI"/>
              </a:rPr>
              <a:t>Хангагдаагүй эрэлт: </a:t>
            </a:r>
            <a:r>
              <a:rPr sz="1100" b="1">
                <a:solidFill>
                  <a:srgbClr val="0F766E"/>
                </a:solidFill>
                <a:latin typeface="Segoe UI"/>
              </a:rPr>
              <a:t>78 238 → 22 782 ширхэг</a:t>
            </a:r>
            <a:r>
              <a:rPr sz="1050" b="0">
                <a:solidFill>
                  <a:srgbClr val="78716C"/>
                </a:solidFill>
                <a:latin typeface="Segoe UI"/>
              </a:rPr>
              <a:t>  (71% бага)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2331720"/>
            <a:ext cx="4465015" cy="2487168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3488" y="257860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F766E"/>
                </a:solidFill>
                <a:latin typeface="Segoe UI"/>
              </a:rPr>
              <a:t>ЗӨРҮҮНИЙ МӨНГӨН ДҮН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488" y="2907792"/>
            <a:ext cx="42062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1" i="0">
                <a:solidFill>
                  <a:srgbClr val="0F766E"/>
                </a:solidFill>
                <a:latin typeface="Segoe UI"/>
              </a:rPr>
              <a:t>286 сая 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33488" y="3529584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1C1917"/>
                </a:solidFill>
                <a:latin typeface="Segoe UI"/>
              </a:rPr>
              <a:t>алдагдахаас сэргийлсэн борлуулалт — 1019 барааны 90 хоногийн түүхэн дээр. Нийт борлуулалтын 5.5%.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33488" y="4315968"/>
            <a:ext cx="4206240" cy="1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3488" y="442569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0F766E"/>
                </a:solidFill>
                <a:latin typeface="Segoe UI"/>
              </a:rPr>
              <a:t>+3.0 нэгж хувь · 20 дэлгүүр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230368"/>
            <a:ext cx="10820095" cy="1060704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5431536"/>
            <a:ext cx="1023487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1">
                <a:solidFill>
                  <a:srgbClr val="1C1917"/>
                </a:solidFill>
                <a:latin typeface="Segoe UI"/>
              </a:rPr>
              <a:t>Шударга байх ёстой зүйл: </a:t>
            </a:r>
            <a:r>
              <a:rPr sz="1100" b="0">
                <a:solidFill>
                  <a:srgbClr val="1C1917"/>
                </a:solidFill>
                <a:latin typeface="Segoe UI"/>
              </a:rPr>
              <a:t>өндөр үйлчилгээний түвшин нь илүү нөөцөөр худалдаж авагдана. Хөдөлгүүр гарын аргачлалаас өдөрт дунджаар </a:t>
            </a:r>
            <a:r>
              <a:rPr sz="1100" b="1">
                <a:solidFill>
                  <a:srgbClr val="1C1917"/>
                </a:solidFill>
                <a:latin typeface="Segoe UI"/>
              </a:rPr>
              <a:t>16.3 сая ₮</a:t>
            </a:r>
            <a:r>
              <a:rPr sz="1100" b="0">
                <a:solidFill>
                  <a:srgbClr val="1C1917"/>
                </a:solidFill>
                <a:latin typeface="Segoe UI"/>
              </a:rPr>
              <a:t>-ийн илүү нөөц барина (20 дэлгүүрийн нийлбэрээр). Жилийн ~50% хадгалалтын зардлаар 90 хоногт </a:t>
            </a:r>
            <a:r>
              <a:rPr sz="1100" b="1">
                <a:solidFill>
                  <a:srgbClr val="1C1917"/>
                </a:solidFill>
                <a:latin typeface="Segoe UI"/>
              </a:rPr>
              <a:t>2.0 сая ₮</a:t>
            </a:r>
            <a:r>
              <a:rPr sz="1100" b="0">
                <a:solidFill>
                  <a:srgbClr val="1C1917"/>
                </a:solidFill>
                <a:latin typeface="Segoe UI"/>
              </a:rPr>
              <a:t>-ийн зардал — сэргээсэн борлуулалтаас 140 дахин бага.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D9488"/>
                </a:solidFill>
                <a:latin typeface="Segoe UI"/>
              </a:rPr>
              <a:t>НОТОЛГОО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68096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917"/>
                </a:solidFill>
                <a:latin typeface="Segoe UI"/>
              </a:rPr>
              <a:t>Хүний оролцоо хаана үнэ цэнэ нэмж, хаана дэмий вэ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65815" y="640080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8A29E"/>
                </a:solidFill>
                <a:latin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 i="0">
                <a:solidFill>
                  <a:srgbClr val="78716C"/>
                </a:solidFill>
                <a:latin typeface="Segoe UI"/>
              </a:rPr>
              <a:t>Систем гараар өөрчилсөн мөр бүрийг дараа нь гарсан БОДИТ борлуулалттай тулгаж дүгнэнэ. Ингэснээр “хүн хэрэгтэй юу?” гэдэг асуулт мэдрэмж биш, хэмжигдэхүүн болно.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3423818" cy="1481328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286000"/>
            <a:ext cx="50292" cy="14813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487168"/>
            <a:ext cx="30123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C1917"/>
                </a:solidFill>
                <a:latin typeface="Segoe UI"/>
              </a:rPr>
              <a:t>13.6%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3017520"/>
            <a:ext cx="30123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1917"/>
                </a:solidFill>
                <a:latin typeface="Segoe UI"/>
              </a:rPr>
              <a:t>мөрийн гараар засагдсан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273552"/>
            <a:ext cx="30123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5 727 / 42 059 мөр — үлдсэн 36 332 нь хүний оролцоогүй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3938" y="2286000"/>
            <a:ext cx="3423818" cy="1481328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3938" y="2286000"/>
            <a:ext cx="50292" cy="14813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9970" y="2487168"/>
            <a:ext cx="30123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C1917"/>
                </a:solidFill>
                <a:latin typeface="Segoe UI"/>
              </a:rPr>
              <a:t>53%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9970" y="3017520"/>
            <a:ext cx="30123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1917"/>
                </a:solidFill>
                <a:latin typeface="Segoe UI"/>
              </a:rPr>
              <a:t>засварын ЗӨВ гарсан хувь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9970" y="3273552"/>
            <a:ext cx="30123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флотын дунджаар — өөрөөр хэлбэл ойролцоогоор зоос шидсэнтэй адил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2076" y="2286000"/>
            <a:ext cx="3423818" cy="1481328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82076" y="2286000"/>
            <a:ext cx="50292" cy="148132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8108" y="2487168"/>
            <a:ext cx="301233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C1917"/>
                </a:solidFill>
                <a:latin typeface="Segoe UI"/>
              </a:rPr>
              <a:t>21.8 → 20.0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8108" y="3017520"/>
            <a:ext cx="30123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1917"/>
                </a:solidFill>
                <a:latin typeface="Segoe UI"/>
              </a:rPr>
              <a:t>дундаж алдаа (ширхэг)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8108" y="3273552"/>
            <a:ext cx="30123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гараар хүрсэн мөрүүд бага зэрэг илүү нарийн — гэхдээ энэ нь ДУНДАЖ, дэлгүүр бүрт өөр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968496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8716C"/>
                </a:solidFill>
                <a:latin typeface="Segoe UI"/>
              </a:rPr>
              <a:t>ДУНДАЖ НЬ ҮНЭНИЙГ НУУНА — ДЭЛГҮҮРЭЭР ЗАДЛАВАЛ: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426110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A8A29E"/>
                </a:solidFill>
                <a:latin typeface="Segoe UI"/>
              </a:rPr>
              <a:t>хүрсэн мөр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261104"/>
            <a:ext cx="1371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A8A29E"/>
                </a:solidFill>
                <a:latin typeface="Segoe UI"/>
              </a:rPr>
              <a:t>зөв гарсан нь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498848"/>
            <a:ext cx="10820095" cy="548640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4654296"/>
            <a:ext cx="256032" cy="256032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46817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1917"/>
                </a:solidFill>
                <a:latin typeface="Segoe UI"/>
              </a:rPr>
              <a:t>Автомат хэвээр (8)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6817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1917"/>
                </a:solidFill>
                <a:latin typeface="Segoe UI"/>
              </a:rPr>
              <a:t>4–6%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681728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11D48"/>
                </a:solidFill>
                <a:latin typeface="Segoe UI"/>
              </a:rPr>
              <a:t>0–2%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4690872"/>
            <a:ext cx="5150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8716C"/>
                </a:solidFill>
                <a:latin typeface="Segoe UI"/>
              </a:rPr>
              <a:t>Оператор хааяа хүрдэг ч бараг үргэлж БУРУУ. Цэвэр дэмий ажил.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120640"/>
            <a:ext cx="10820095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68680" y="5276088"/>
            <a:ext cx="256032" cy="256032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1C1917"/>
                </a:solidFill>
                <a:latin typeface="Segoe UI"/>
              </a:rPr>
              <a:t>~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530352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1917"/>
                </a:solidFill>
                <a:latin typeface="Segoe UI"/>
              </a:rPr>
              <a:t>Тохируулга (4)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53035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1917"/>
                </a:solidFill>
                <a:latin typeface="Segoe UI"/>
              </a:rPr>
              <a:t>19–21%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53035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59E0B"/>
                </a:solidFill>
                <a:latin typeface="Segoe UI"/>
              </a:rPr>
              <a:t>23–83%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5312664"/>
            <a:ext cx="5150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8716C"/>
                </a:solidFill>
                <a:latin typeface="Segoe UI"/>
              </a:rPr>
              <a:t>Нэг чигт засаж байна → хүний мэдлэг биш, параметр буруу.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85800" y="5742432"/>
            <a:ext cx="10820095" cy="548640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68680" y="5897880"/>
            <a:ext cx="256032" cy="256032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✎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592531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C1917"/>
                </a:solidFill>
                <a:latin typeface="Segoe UI"/>
              </a:rPr>
              <a:t>Гараар (4)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592531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C1917"/>
                </a:solidFill>
                <a:latin typeface="Segoe UI"/>
              </a:rPr>
              <a:t>24–29%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592531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F766E"/>
                </a:solidFill>
                <a:latin typeface="Segoe UI"/>
              </a:rPr>
              <a:t>75–78%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5934456"/>
            <a:ext cx="5150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8716C"/>
                </a:solidFill>
                <a:latin typeface="Segoe UI"/>
              </a:rPr>
              <a:t>Хоёр тийш засаж, ихэнхдээ зөв → системд байхгүй мэдээлэл түүнд бий.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D9488"/>
                </a:solidFill>
                <a:latin typeface="Segoe UI"/>
              </a:rPr>
              <a:t>ЖИШЭЭ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68096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917"/>
                </a:solidFill>
                <a:latin typeface="Segoe UI"/>
              </a:rPr>
              <a:t>Дөрвөн дэлгүүр — дөрвөн өөр шийдвэр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65815" y="640080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8A29E"/>
                </a:solidFill>
                <a:latin typeface="Segoe UI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78716C"/>
                </a:solidFill>
                <a:latin typeface="Segoe UI"/>
              </a:rPr>
              <a:t>Систем зөвхөн “асуудалтай” гэж хэлдэггүй — ЯМАР үйлдэл хийхийг нэрлэнэ.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194560"/>
            <a:ext cx="2499283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194560"/>
            <a:ext cx="2499283" cy="5029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5256" y="2432304"/>
            <a:ext cx="256032" cy="256032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1C1917"/>
                </a:solidFill>
                <a:latin typeface="Segoe UI"/>
              </a:rPr>
              <a:t>~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2450592"/>
            <a:ext cx="17128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8716C"/>
                </a:solidFill>
                <a:latin typeface="Segoe UI"/>
              </a:rPr>
              <a:t>Тохируулга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816352"/>
            <a:ext cx="206037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917"/>
                </a:solidFill>
                <a:latin typeface="Segoe UI"/>
              </a:rPr>
              <a:t>Баянгол зочид буудал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3401568"/>
            <a:ext cx="206037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F59E0B"/>
                </a:solidFill>
                <a:latin typeface="Segoe UI"/>
              </a:rPr>
              <a:t>Эрэлт буурсан — тохиргоо хуучирсан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968496"/>
            <a:ext cx="206037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Зам засварт орж хөл хөдөлгөөн буурсан. Оператор 21% мөрийг ХАСАЖ засаж, 83% нь зөв гарсан — бүгд нэг чигт.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" y="5029200"/>
            <a:ext cx="2060371" cy="1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5138928"/>
            <a:ext cx="20603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A29E"/>
                </a:solidFill>
                <a:latin typeface="Segoe UI"/>
              </a:rPr>
              <a:t>СИСТЕМИЙН САНАЛ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5358384"/>
            <a:ext cx="206037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C1917"/>
                </a:solidFill>
                <a:latin typeface="Segoe UI"/>
              </a:rPr>
              <a:t>Үйлчилгээний түвшин 0.98 → 0.95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59403" y="2194560"/>
            <a:ext cx="2499283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59403" y="2194560"/>
            <a:ext cx="2499283" cy="5029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78859" y="2432304"/>
            <a:ext cx="256032" cy="256032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6331" y="2450592"/>
            <a:ext cx="17128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8716C"/>
                </a:solidFill>
                <a:latin typeface="Segoe UI"/>
              </a:rPr>
              <a:t>Гараар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8859" y="2816352"/>
            <a:ext cx="206037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917"/>
                </a:solidFill>
                <a:latin typeface="Segoe UI"/>
              </a:rPr>
              <a:t>МУИС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78859" y="3401568"/>
            <a:ext cx="206037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4F46E5"/>
                </a:solidFill>
                <a:latin typeface="Segoe UI"/>
              </a:rPr>
              <a:t>Хүн системээс илүү мэдэж байна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78859" y="3968496"/>
            <a:ext cx="206037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Их сургуулийн хажууд. Арга хэмжээний өдөр нэмж, амралтаар хасдаг. Засварын 75% зөв, чиглэл нь хоёр талын.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78859" y="5029200"/>
            <a:ext cx="2060371" cy="1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8859" y="5138928"/>
            <a:ext cx="20603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A29E"/>
                </a:solidFill>
                <a:latin typeface="Segoe UI"/>
              </a:rPr>
              <a:t>СИСТЕМИЙН САНАЛ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8859" y="5358384"/>
            <a:ext cx="206037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C1917"/>
                </a:solidFill>
                <a:latin typeface="Segoe UI"/>
              </a:rPr>
              <a:t>Ямар мэдээлэл нөлөөлж байгааг тодруулах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3007" y="2194560"/>
            <a:ext cx="2499283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3007" y="2194560"/>
            <a:ext cx="2499283" cy="50292"/>
          </a:xfrm>
          <a:prstGeom prst="rect">
            <a:avLst/>
          </a:prstGeom>
          <a:solidFill>
            <a:srgbClr val="A8A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52463" y="2432304"/>
            <a:ext cx="256032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A8A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A8A29E"/>
                </a:solidFill>
                <a:latin typeface="Segoe UI"/>
              </a:rP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99935" y="2450592"/>
            <a:ext cx="17128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8716C"/>
                </a:solidFill>
                <a:latin typeface="Segoe UI"/>
              </a:rPr>
              <a:t>Дата дутуу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2463" y="2816352"/>
            <a:ext cx="206037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917"/>
                </a:solidFill>
                <a:latin typeface="Segoe UI"/>
              </a:rPr>
              <a:t>Яармаг шинэ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52463" y="3401568"/>
            <a:ext cx="206037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78716C"/>
                </a:solidFill>
                <a:latin typeface="Segoe UI"/>
              </a:rPr>
              <a:t>Шинэ салбар — түүх богино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2463" y="3968496"/>
            <a:ext cx="206037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18 хоногийн түүх. Таамаглалын итгэлцэл босго хүрэхгүй тул систем дүгнэлт гаргахаас ТАТГАЛЗАНА.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52463" y="5029200"/>
            <a:ext cx="2060371" cy="1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2463" y="5138928"/>
            <a:ext cx="20603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A29E"/>
                </a:solidFill>
                <a:latin typeface="Segoe UI"/>
              </a:rPr>
              <a:t>СИСТЕМИЙН САНАЛ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2463" y="5358384"/>
            <a:ext cx="206037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C1917"/>
                </a:solidFill>
                <a:latin typeface="Segoe UI"/>
              </a:rPr>
              <a:t>Дата татах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06611" y="2194560"/>
            <a:ext cx="2499283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06611" y="2194560"/>
            <a:ext cx="2499283" cy="50292"/>
          </a:xfrm>
          <a:prstGeom prst="rect">
            <a:avLst/>
          </a:prstGeom>
          <a:solidFill>
            <a:srgbClr val="A8A2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226067" y="2432304"/>
            <a:ext cx="256032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A8A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1">
                <a:solidFill>
                  <a:srgbClr val="A8A29E"/>
                </a:solidFill>
                <a:latin typeface="Segoe UI"/>
              </a:rPr>
              <a:t>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73539" y="2450592"/>
            <a:ext cx="17128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78716C"/>
                </a:solidFill>
                <a:latin typeface="Segoe UI"/>
              </a:rPr>
              <a:t>Дата дутуу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26067" y="2816352"/>
            <a:ext cx="2060371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1917"/>
                </a:solidFill>
                <a:latin typeface="Segoe UI"/>
              </a:rPr>
              <a:t>Налайх төв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26067" y="3401568"/>
            <a:ext cx="2060371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78716C"/>
                </a:solidFill>
                <a:latin typeface="Segoe UI"/>
              </a:rPr>
              <a:t>POS холболт тасарсан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26067" y="3968496"/>
            <a:ext cx="206037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36 цагаас удаан шинэ дата ирээгүй. Систем үүнийг нуухгүй, эхний ээлжид холболтыг сэргээхийг шаардана.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226067" y="5029200"/>
            <a:ext cx="2060371" cy="1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26067" y="5138928"/>
            <a:ext cx="206037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A29E"/>
                </a:solidFill>
                <a:latin typeface="Segoe UI"/>
              </a:rPr>
              <a:t>СИСТЕМИЙН САНАЛ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26067" y="5358384"/>
            <a:ext cx="206037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C1917"/>
                </a:solidFill>
                <a:latin typeface="Segoe UI"/>
              </a:rPr>
              <a:t>Холболт шалгах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D9488"/>
                </a:solidFill>
                <a:latin typeface="Segoe UI"/>
              </a:rPr>
              <a:t>90 ХОНОГИЙН ҮЗҮҮЛЭЛТ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68096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917"/>
                </a:solidFill>
                <a:latin typeface="Segoe UI"/>
              </a:rPr>
              <a:t>Флотын гүйцэтгэл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65815" y="640080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8A29E"/>
                </a:solidFill>
                <a:latin typeface="Segoe UI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78716C"/>
                </a:solidFill>
                <a:latin typeface="Segoe UI"/>
              </a:rPr>
              <a:t>Бүх тоо ажиллаж буй системээс шууд — гараар оруулсан үзүүлэлт байхгүй.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12848"/>
            <a:ext cx="2526715" cy="1664208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2212848"/>
            <a:ext cx="50292" cy="16642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2414016"/>
            <a:ext cx="21152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1917"/>
                </a:solidFill>
                <a:latin typeface="Segoe UI"/>
              </a:rPr>
              <a:t>99.8%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944368"/>
            <a:ext cx="21152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1917"/>
                </a:solidFill>
                <a:latin typeface="Segoe UI"/>
              </a:rPr>
              <a:t>Үйлчилгээний түвшин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3200400"/>
            <a:ext cx="21152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нөөц дуусаагүй өдрийн хувь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0259" y="2212848"/>
            <a:ext cx="2526715" cy="1664208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50259" y="2212848"/>
            <a:ext cx="50292" cy="166420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6291" y="2414016"/>
            <a:ext cx="21152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1917"/>
                </a:solidFill>
                <a:latin typeface="Segoe UI"/>
              </a:rPr>
              <a:t>99.8%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6291" y="2944368"/>
            <a:ext cx="21152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1917"/>
                </a:solidFill>
                <a:latin typeface="Segoe UI"/>
              </a:rPr>
              <a:t>Эрэлт хангалт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6291" y="3200400"/>
            <a:ext cx="21152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хангагдсан эрэлтийн хувь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4719" y="2212848"/>
            <a:ext cx="2526715" cy="1664208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4719" y="2212848"/>
            <a:ext cx="50292" cy="16642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0751" y="2414016"/>
            <a:ext cx="21152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1917"/>
                </a:solidFill>
                <a:latin typeface="Segoe UI"/>
              </a:rPr>
              <a:t>2.1%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0751" y="2944368"/>
            <a:ext cx="21152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1917"/>
                </a:solidFill>
                <a:latin typeface="Segoe UI"/>
              </a:rPr>
              <a:t>Хаягдал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0751" y="3200400"/>
            <a:ext cx="21152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171.9 сая 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9179" y="2212848"/>
            <a:ext cx="2526715" cy="1664208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79179" y="2212848"/>
            <a:ext cx="50292" cy="16642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211" y="2414016"/>
            <a:ext cx="21152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1917"/>
                </a:solidFill>
                <a:latin typeface="Segoe UI"/>
              </a:rPr>
              <a:t>26%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211" y="2944368"/>
            <a:ext cx="21152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1917"/>
                </a:solidFill>
                <a:latin typeface="Segoe UI"/>
              </a:rPr>
              <a:t>Илүүдэл нөөц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211" y="3200400"/>
            <a:ext cx="21152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40.8 сая ₮ — гацсан хөрөнгө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114800"/>
            <a:ext cx="2526715" cy="1664208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4114800"/>
            <a:ext cx="50292" cy="1664208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" y="4315968"/>
            <a:ext cx="21152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1917"/>
                </a:solidFill>
                <a:latin typeface="Segoe UI"/>
              </a:rPr>
              <a:t>5.6 тэрбум 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" y="4846320"/>
            <a:ext cx="21152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1917"/>
                </a:solidFill>
                <a:latin typeface="Segoe UI"/>
              </a:rPr>
              <a:t>Нийт борлуулалт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" y="5102352"/>
            <a:ext cx="21152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1 184 341 ширхэг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50259" y="4114800"/>
            <a:ext cx="2526715" cy="1664208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450259" y="4114800"/>
            <a:ext cx="50292" cy="16642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6291" y="4315968"/>
            <a:ext cx="21152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1917"/>
                </a:solidFill>
                <a:latin typeface="Segoe UI"/>
              </a:rPr>
              <a:t>944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6291" y="4846320"/>
            <a:ext cx="21152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1917"/>
                </a:solidFill>
                <a:latin typeface="Segoe UI"/>
              </a:rPr>
              <a:t>Захиалга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06291" y="5102352"/>
            <a:ext cx="21152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938 нь илгээгдсэн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4719" y="4114800"/>
            <a:ext cx="2526715" cy="1664208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4719" y="4114800"/>
            <a:ext cx="50292" cy="166420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0751" y="4315968"/>
            <a:ext cx="21152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1917"/>
                </a:solidFill>
                <a:latin typeface="Segoe UI"/>
              </a:rPr>
              <a:t>451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0751" y="4846320"/>
            <a:ext cx="21152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1917"/>
                </a:solidFill>
                <a:latin typeface="Segoe UI"/>
              </a:rPr>
              <a:t>SMS мессеж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0751" y="5102352"/>
            <a:ext cx="21152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1 253 сегмент · 100% хүргэгдсэн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79179" y="4114800"/>
            <a:ext cx="2526715" cy="1664208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79179" y="4114800"/>
            <a:ext cx="50292" cy="1664208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211" y="4315968"/>
            <a:ext cx="2115235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C1917"/>
                </a:solidFill>
                <a:latin typeface="Segoe UI"/>
              </a:rPr>
              <a:t>12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35211" y="4846320"/>
            <a:ext cx="211523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1917"/>
                </a:solidFill>
                <a:latin typeface="Segoe UI"/>
              </a:rPr>
              <a:t>Нээлттэй дохио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35211" y="5102352"/>
            <a:ext cx="211523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5 эгзэгтэй · 7 сануулга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6126480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A8A29E"/>
                </a:solidFill>
                <a:latin typeface="Segoe UI"/>
              </a:rPr>
              <a:t>Хамрах хугацаа: 2026.08.18-аас өмнөх 90 хоног · 20 дэлгүүр · 1 022 бараа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D9488"/>
                </a:solidFill>
                <a:latin typeface="Segoe UI"/>
              </a:rPr>
              <a:t>ФЛОТ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68096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917"/>
                </a:solidFill>
                <a:latin typeface="Segoe UI"/>
              </a:rPr>
              <a:t>20 дэлгүүр — нэг дэлгэц дээр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65815" y="640080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8A29E"/>
                </a:solidFill>
                <a:latin typeface="Segoe U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8716C"/>
                </a:solidFill>
                <a:latin typeface="Segoe UI"/>
              </a:rPr>
              <a:t>Яаралтай эрэмбээр: юуг эхэлж хийхээ хайх шаардлагагүй.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8366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A29E"/>
                </a:solidFill>
                <a:latin typeface="Segoe U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188366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A29E"/>
                </a:solidFill>
                <a:latin typeface="Segoe UI"/>
              </a:rPr>
              <a:t>Дэлгүүр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8366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A29E"/>
                </a:solidFill>
                <a:latin typeface="Segoe UI"/>
              </a:rPr>
              <a:t>Горим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188366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A29E"/>
                </a:solidFill>
                <a:latin typeface="Segoe UI"/>
              </a:rPr>
              <a:t>Үйлчилгээ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88366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A29E"/>
                </a:solidFill>
                <a:latin typeface="Segoe UI"/>
              </a:rPr>
              <a:t>Гараар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88366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A29E"/>
                </a:solidFill>
                <a:latin typeface="Segoe UI"/>
              </a:rPr>
              <a:t>Зөв гарсан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188366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A29E"/>
                </a:solidFill>
                <a:latin typeface="Segoe UI"/>
              </a:rPr>
              <a:t>Нөлөө (₮)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883664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A8A29E"/>
                </a:solidFill>
                <a:latin typeface="Segoe UI"/>
              </a:rPr>
              <a:t>Санал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139696"/>
            <a:ext cx="10820095" cy="1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" y="2194560"/>
            <a:ext cx="10966399" cy="202996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22376" y="2244852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2212848"/>
            <a:ext cx="23774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1917"/>
                </a:solidFill>
                <a:latin typeface="Segoe UI"/>
              </a:rPr>
              <a:t>Баянгол зочид буудал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212848"/>
            <a:ext cx="7315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АВТО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212848"/>
            <a:ext cx="91440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99.9%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212848"/>
            <a:ext cx="82296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21%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2212848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0F766E"/>
                </a:solidFill>
                <a:latin typeface="Segoe UI"/>
              </a:rPr>
              <a:t>83%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2212848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19.8 сая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212848"/>
            <a:ext cx="39319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8716C"/>
                </a:solidFill>
                <a:latin typeface="Segoe UI"/>
              </a:rPr>
              <a:t>Үйлчилгээний түвшин 0.98 → 0.95 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2376" y="2447848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9848" y="2415844"/>
            <a:ext cx="23774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1917"/>
                </a:solidFill>
                <a:latin typeface="Segoe UI"/>
              </a:rPr>
              <a:t>Драгон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415844"/>
            <a:ext cx="7315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АВТО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2415844"/>
            <a:ext cx="91440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100.0%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2415844"/>
            <a:ext cx="82296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19%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60" y="2415844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0F766E"/>
                </a:solidFill>
                <a:latin typeface="Segoe UI"/>
              </a:rPr>
              <a:t>76%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2415844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13.9 сая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415844"/>
            <a:ext cx="39319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8716C"/>
                </a:solidFill>
                <a:latin typeface="Segoe UI"/>
              </a:rPr>
              <a:t>Үйлчилгээний түвшин 0.98 → 0.95 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" y="2600552"/>
            <a:ext cx="10966399" cy="202996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22376" y="2650844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9848" y="2618840"/>
            <a:ext cx="23774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1917"/>
                </a:solidFill>
                <a:latin typeface="Segoe UI"/>
              </a:rPr>
              <a:t>Blue Sky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2618840"/>
            <a:ext cx="7315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АВТО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06240" y="2618840"/>
            <a:ext cx="91440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100.0%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2618840"/>
            <a:ext cx="82296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19%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2618840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23%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2618840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5.7 сая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2618840"/>
            <a:ext cx="39319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8716C"/>
                </a:solidFill>
                <a:latin typeface="Segoe UI"/>
              </a:rPr>
              <a:t>Үйлчилгээний түвшин 0.9 → 0.93 ↑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2376" y="2853840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69848" y="2821836"/>
            <a:ext cx="23774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1917"/>
                </a:solidFill>
                <a:latin typeface="Segoe UI"/>
              </a:rPr>
              <a:t>Шангри-Ла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2821836"/>
            <a:ext cx="7315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АВТО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06240" y="2821836"/>
            <a:ext cx="91440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99.8%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12080" y="2821836"/>
            <a:ext cx="82296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21%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2821836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27%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78040" y="2821836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5.7 сая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2821836"/>
            <a:ext cx="39319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8716C"/>
                </a:solidFill>
                <a:latin typeface="Segoe UI"/>
              </a:rPr>
              <a:t>Үйлчилгээний түвшин 0.9 → 0.93 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" y="3006544"/>
            <a:ext cx="10966399" cy="202996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22376" y="305683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8A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9848" y="3024832"/>
            <a:ext cx="23774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Толгойт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74720" y="3024832"/>
            <a:ext cx="7315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АВТО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06240" y="3024832"/>
            <a:ext cx="91440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99.9%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12080" y="3024832"/>
            <a:ext cx="82296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080760" y="3024832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50%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178040" y="3024832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6.6 сая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75320" y="3024832"/>
            <a:ext cx="39319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8716C"/>
                </a:solidFill>
                <a:latin typeface="Segoe UI"/>
              </a:rPr>
              <a:t>Холболт шалгах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2376" y="3259832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8A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69848" y="3227828"/>
            <a:ext cx="23774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Налайх төв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474720" y="3227828"/>
            <a:ext cx="7315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АВТО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06240" y="3227828"/>
            <a:ext cx="91440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99.9%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212080" y="3227828"/>
            <a:ext cx="82296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080760" y="3227828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50%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78040" y="3227828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4.0 сая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75320" y="3227828"/>
            <a:ext cx="39319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8716C"/>
                </a:solidFill>
                <a:latin typeface="Segoe UI"/>
              </a:rPr>
              <a:t>Холболт шалгах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2648" y="3412536"/>
            <a:ext cx="10966399" cy="202996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22376" y="3462828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8A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69848" y="3430824"/>
            <a:ext cx="23774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Яармаг шинэ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74720" y="3430824"/>
            <a:ext cx="7315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ГАР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206240" y="3430824"/>
            <a:ext cx="91440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95.9%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212080" y="3430824"/>
            <a:ext cx="82296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21%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080760" y="3430824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4%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78040" y="3430824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2.3 сая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75320" y="3430824"/>
            <a:ext cx="39319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8716C"/>
                </a:solidFill>
                <a:latin typeface="Segoe UI"/>
              </a:rPr>
              <a:t>Дата татах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722376" y="3665824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8A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69848" y="3633820"/>
            <a:ext cx="23774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Баянхошуу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74720" y="3633820"/>
            <a:ext cx="7315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ГАР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06240" y="3633820"/>
            <a:ext cx="91440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94.4%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12080" y="3633820"/>
            <a:ext cx="82296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22%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80760" y="3633820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15%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78040" y="3633820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1.7 сая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75320" y="3633820"/>
            <a:ext cx="39319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8716C"/>
                </a:solidFill>
                <a:latin typeface="Segoe UI"/>
              </a:rPr>
              <a:t>Дата татах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12648" y="3818528"/>
            <a:ext cx="10966399" cy="202996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722376" y="3868820"/>
            <a:ext cx="118872" cy="118872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69848" y="3836816"/>
            <a:ext cx="23774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1917"/>
                </a:solidFill>
                <a:latin typeface="Segoe UI"/>
              </a:rPr>
              <a:t>МУИС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74720" y="3836816"/>
            <a:ext cx="7315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ГАР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206240" y="3836816"/>
            <a:ext cx="91440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99.9%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12080" y="3836816"/>
            <a:ext cx="82296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24%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80760" y="3836816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766E"/>
                </a:solidFill>
                <a:latin typeface="Segoe UI"/>
              </a:rPr>
              <a:t>75%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178040" y="3836816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15.1 сая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275320" y="3836816"/>
            <a:ext cx="39319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8716C"/>
                </a:solidFill>
                <a:latin typeface="Segoe UI"/>
              </a:rPr>
              <a:t>Ямар мэдээлэл нөлөөлж байгааг тодруулах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722376" y="407181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69848" y="4039812"/>
            <a:ext cx="23774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1917"/>
                </a:solidFill>
                <a:latin typeface="Segoe UI"/>
              </a:rPr>
              <a:t>Төв цэнгэлдэх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74720" y="4039812"/>
            <a:ext cx="7315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ГАР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06240" y="4039812"/>
            <a:ext cx="91440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99.7%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212080" y="4039812"/>
            <a:ext cx="82296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29%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080760" y="4039812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766E"/>
                </a:solidFill>
                <a:latin typeface="Segoe UI"/>
              </a:rPr>
              <a:t>77%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178040" y="4039812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12.6 сая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275320" y="4039812"/>
            <a:ext cx="39319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8716C"/>
                </a:solidFill>
                <a:latin typeface="Segoe UI"/>
              </a:rPr>
              <a:t>Ямар мэдээлэл нөлөөлж байгааг тодруулах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12648" y="4224520"/>
            <a:ext cx="10966399" cy="202996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722376" y="4274812"/>
            <a:ext cx="118872" cy="118872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69848" y="4242808"/>
            <a:ext cx="23774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1917"/>
                </a:solidFill>
                <a:latin typeface="Segoe UI"/>
              </a:rPr>
              <a:t>ШУТИС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474720" y="4242808"/>
            <a:ext cx="7315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ГАР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206240" y="4242808"/>
            <a:ext cx="91440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99.9%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5212080" y="4242808"/>
            <a:ext cx="82296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27%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080760" y="4242808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766E"/>
                </a:solidFill>
                <a:latin typeface="Segoe UI"/>
              </a:rPr>
              <a:t>76%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178040" y="4242808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11.2 сая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275320" y="4242808"/>
            <a:ext cx="39319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8716C"/>
                </a:solidFill>
                <a:latin typeface="Segoe UI"/>
              </a:rPr>
              <a:t>Ямар мэдээлэл нөлөөлж байгааг тодруулах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722376" y="4477808"/>
            <a:ext cx="118872" cy="118872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069848" y="4445804"/>
            <a:ext cx="23774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C1917"/>
                </a:solidFill>
                <a:latin typeface="Segoe UI"/>
              </a:rPr>
              <a:t>Хүннү молл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74720" y="4445804"/>
            <a:ext cx="7315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ГАР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4206240" y="4445804"/>
            <a:ext cx="91440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99.9%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5212080" y="4445804"/>
            <a:ext cx="82296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25%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080760" y="4445804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0F766E"/>
                </a:solidFill>
                <a:latin typeface="Segoe UI"/>
              </a:rPr>
              <a:t>78%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178040" y="4445804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7.2 сая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275320" y="4445804"/>
            <a:ext cx="39319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8716C"/>
                </a:solidFill>
                <a:latin typeface="Segoe UI"/>
              </a:rPr>
              <a:t>Ямар мэдээлэл нөлөөлж байгааг тодруулах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12648" y="4630512"/>
            <a:ext cx="10966399" cy="202996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722376" y="4680804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1069848" y="4648800"/>
            <a:ext cx="23774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Дүнжингарав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474720" y="4648800"/>
            <a:ext cx="7315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АВТО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4206240" y="4648800"/>
            <a:ext cx="91440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99.9%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212080" y="4648800"/>
            <a:ext cx="82296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4%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080760" y="4648800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2%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178040" y="4648800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11.7 сая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275320" y="4648800"/>
            <a:ext cx="39319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8716C"/>
                </a:solidFill>
                <a:latin typeface="Segoe UI"/>
              </a:rPr>
              <a:t>Оролцох шаардлагагүй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22376" y="4883800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69848" y="4851796"/>
            <a:ext cx="23774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Сүхбаатарын талбай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474720" y="4851796"/>
            <a:ext cx="7315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АВТО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206240" y="4851796"/>
            <a:ext cx="91440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100.0%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212080" y="4851796"/>
            <a:ext cx="82296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5%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080760" y="4851796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2%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78040" y="4851796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11.2 сая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75320" y="4851796"/>
            <a:ext cx="39319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8716C"/>
                </a:solidFill>
                <a:latin typeface="Segoe UI"/>
              </a:rPr>
              <a:t>Оролцох шаардлагагүй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12648" y="5036504"/>
            <a:ext cx="10966399" cy="202996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722376" y="508679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1069848" y="5054792"/>
            <a:ext cx="23774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Тэнгис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474720" y="5054792"/>
            <a:ext cx="7315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АВТО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206240" y="5054792"/>
            <a:ext cx="91440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100.0%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212080" y="5054792"/>
            <a:ext cx="82296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4%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080760" y="5054792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0%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178040" y="5054792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9.9 сая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275320" y="5054792"/>
            <a:ext cx="39319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8716C"/>
                </a:solidFill>
                <a:latin typeface="Segoe UI"/>
              </a:rPr>
              <a:t>Оролцох шаардлагагүй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22376" y="5289792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069848" y="5257788"/>
            <a:ext cx="23774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Их дэлгүүр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3474720" y="5257788"/>
            <a:ext cx="7315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АВТО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206240" y="5257788"/>
            <a:ext cx="91440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100.0%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212080" y="5257788"/>
            <a:ext cx="82296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4%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080760" y="5257788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0%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178040" y="5257788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9.9 сая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275320" y="5257788"/>
            <a:ext cx="39319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8716C"/>
                </a:solidFill>
                <a:latin typeface="Segoe UI"/>
              </a:rPr>
              <a:t>Оролцох шаардлагагүй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12648" y="5442496"/>
            <a:ext cx="10966399" cy="202996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2" name="Rounded Rectangle 151"/>
          <p:cNvSpPr/>
          <p:nvPr/>
        </p:nvSpPr>
        <p:spPr>
          <a:xfrm>
            <a:off x="722376" y="5492788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069848" y="5460784"/>
            <a:ext cx="23774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Зайсан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3474720" y="5460784"/>
            <a:ext cx="7315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АВТО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206240" y="5460784"/>
            <a:ext cx="91440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100.0%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212080" y="5460784"/>
            <a:ext cx="82296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4%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080760" y="5460784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0%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178040" y="5460784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9.5 сая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275320" y="5460784"/>
            <a:ext cx="39319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8716C"/>
                </a:solidFill>
                <a:latin typeface="Segoe UI"/>
              </a:rPr>
              <a:t>Оролцох шаардлагагүй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722376" y="5695784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1069848" y="5663780"/>
            <a:ext cx="23774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Сансар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474720" y="5663780"/>
            <a:ext cx="7315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АВТО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206240" y="5663780"/>
            <a:ext cx="91440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100.0%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5212080" y="5663780"/>
            <a:ext cx="82296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4%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6080760" y="5663780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1%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178040" y="5663780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8.7 сая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8275320" y="5663780"/>
            <a:ext cx="39319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8716C"/>
                </a:solidFill>
                <a:latin typeface="Segoe UI"/>
              </a:rPr>
              <a:t>Оролцох шаардлагагүй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12648" y="5848488"/>
            <a:ext cx="10966399" cy="202996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9" name="Rounded Rectangle 168"/>
          <p:cNvSpPr/>
          <p:nvPr/>
        </p:nvSpPr>
        <p:spPr>
          <a:xfrm>
            <a:off x="722376" y="5898780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1069848" y="5866776"/>
            <a:ext cx="23774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Гурван гал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474720" y="5866776"/>
            <a:ext cx="7315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АВТО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206240" y="5866776"/>
            <a:ext cx="91440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99.9%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5212080" y="5866776"/>
            <a:ext cx="82296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6%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080760" y="5866776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2%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178040" y="5866776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8.6 сая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8275320" y="5866776"/>
            <a:ext cx="39319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8716C"/>
                </a:solidFill>
                <a:latin typeface="Segoe UI"/>
              </a:rPr>
              <a:t>Оролцох шаардлагагүй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722376" y="6101776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1069848" y="6069772"/>
            <a:ext cx="23774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Мишээл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3474720" y="6069772"/>
            <a:ext cx="7315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АВТО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4206240" y="6069772"/>
            <a:ext cx="91440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99.9%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212080" y="6069772"/>
            <a:ext cx="82296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4%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080760" y="6069772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78716C"/>
                </a:solidFill>
                <a:latin typeface="Segoe UI"/>
              </a:rPr>
              <a:t>0%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178040" y="6069772"/>
            <a:ext cx="100584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C1917"/>
                </a:solidFill>
                <a:latin typeface="Segoe UI"/>
              </a:rPr>
              <a:t>8.1 сая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8275320" y="6069772"/>
            <a:ext cx="3931920" cy="202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8716C"/>
                </a:solidFill>
                <a:latin typeface="Segoe UI"/>
              </a:rPr>
              <a:t>Оролцох шаардлагагүй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85800" y="6355080"/>
            <a:ext cx="10972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 i="0">
                <a:solidFill>
                  <a:srgbClr val="A8A29E"/>
                </a:solidFill>
                <a:latin typeface="Segoe UI"/>
              </a:rPr>
              <a:t>ТАЙЛБАР: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1554480" y="6382512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737360" y="635508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Тохируулга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3291840" y="6382512"/>
            <a:ext cx="118872" cy="118872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3474720" y="635508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Гараар</a:t>
            </a:r>
          </a:p>
        </p:txBody>
      </p:sp>
      <p:sp>
        <p:nvSpPr>
          <p:cNvPr id="190" name="Rounded Rectangle 189"/>
          <p:cNvSpPr/>
          <p:nvPr/>
        </p:nvSpPr>
        <p:spPr>
          <a:xfrm>
            <a:off x="5029200" y="6382512"/>
            <a:ext cx="118872" cy="1188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8A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5212080" y="635508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Дата дутуу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6766560" y="6382512"/>
            <a:ext cx="118872" cy="118872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949440" y="635508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78716C"/>
                </a:solidFill>
                <a:latin typeface="Segoe UI"/>
              </a:rPr>
              <a:t>Автомат хэвээр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D9488"/>
                </a:solidFill>
                <a:latin typeface="Segoe UI"/>
              </a:rPr>
              <a:t>ҮЙЛ АЖИЛЛАГАА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68096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917"/>
                </a:solidFill>
                <a:latin typeface="Segoe UI"/>
              </a:rPr>
              <a:t>Өдөр тутмын горим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65815" y="640080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8A29E"/>
                </a:solidFill>
                <a:latin typeface="Segoe UI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78716C"/>
                </a:solidFill>
                <a:latin typeface="Segoe UI"/>
              </a:rPr>
              <a:t>Хуваарь: өдөр бүр 09:00 цагт бүрэн мөчлөг автоматаар ажиллана.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86000"/>
            <a:ext cx="868680" cy="512064"/>
          </a:xfrm>
          <a:prstGeom prst="roundRect">
            <a:avLst>
              <a:gd name="adj" fmla="val 6000"/>
            </a:avLst>
          </a:prstGeom>
          <a:solidFill>
            <a:srgbClr val="0C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32304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09:00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2257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C1917"/>
                </a:solidFill>
                <a:latin typeface="Segoe UI"/>
              </a:rPr>
              <a:t>Дата татах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786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8716C"/>
                </a:solidFill>
                <a:latin typeface="Segoe UI"/>
              </a:rPr>
              <a:t>20 POS-оос өмнөх өдрийн борлуулалт, нөөц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06424" y="2798064"/>
            <a:ext cx="9525" cy="146304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2944368"/>
            <a:ext cx="868680" cy="512064"/>
          </a:xfrm>
          <a:prstGeom prst="roundRect">
            <a:avLst>
              <a:gd name="adj" fmla="val 6000"/>
            </a:avLst>
          </a:prstGeom>
          <a:solidFill>
            <a:srgbClr val="0C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090672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09:02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98094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C1917"/>
                </a:solidFill>
                <a:latin typeface="Segoe UI"/>
              </a:rPr>
              <a:t>Захиалга тооцох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23697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8716C"/>
                </a:solidFill>
                <a:latin typeface="Segoe UI"/>
              </a:rPr>
              <a:t>бараа бүрт S түвшин, дараа нь захиалгын хэмжээ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06424" y="3456432"/>
            <a:ext cx="9525" cy="146304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602736"/>
            <a:ext cx="868680" cy="512064"/>
          </a:xfrm>
          <a:prstGeom prst="roundRect">
            <a:avLst>
              <a:gd name="adj" fmla="val 6000"/>
            </a:avLst>
          </a:prstGeom>
          <a:solidFill>
            <a:srgbClr val="0C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749040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09:03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363931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C1917"/>
                </a:solidFill>
                <a:latin typeface="Segoe UI"/>
              </a:rPr>
              <a:t>Хязгаар шалгах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89534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8716C"/>
                </a:solidFill>
                <a:latin typeface="Segoe UI"/>
              </a:rPr>
              <a:t>3 сая ₮-аас доош бол автоматаар илгээнэ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06424" y="4114800"/>
            <a:ext cx="9525" cy="146304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4261104"/>
            <a:ext cx="868680" cy="512064"/>
          </a:xfrm>
          <a:prstGeom prst="roundRect">
            <a:avLst>
              <a:gd name="adj" fmla="val 6000"/>
            </a:avLst>
          </a:prstGeom>
          <a:solidFill>
            <a:srgbClr val="0C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407408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09:04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2976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C1917"/>
                </a:solidFill>
                <a:latin typeface="Segoe UI"/>
              </a:rPr>
              <a:t>SMS илгээх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55371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8716C"/>
                </a:solidFill>
                <a:latin typeface="Segoe UI"/>
              </a:rPr>
              <a:t>захиалгын төв рүү хэсэгчлэн, хүргэлт баталгаажна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06424" y="4773168"/>
            <a:ext cx="9525" cy="146304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5800" y="4919472"/>
            <a:ext cx="868680" cy="512064"/>
          </a:xfrm>
          <a:prstGeom prst="roundRect">
            <a:avLst>
              <a:gd name="adj" fmla="val 6000"/>
            </a:avLst>
          </a:prstGeom>
          <a:solidFill>
            <a:srgbClr val="0C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065776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Segoe UI"/>
              </a:rPr>
              <a:t>Өдөржин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4956048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1C1917"/>
                </a:solidFill>
                <a:latin typeface="Segoe UI"/>
              </a:rPr>
              <a:t>Хяналт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52120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78716C"/>
                </a:solidFill>
                <a:latin typeface="Segoe UI"/>
              </a:rPr>
              <a:t>оператор зөвхөн шийдвэр шаардсан дэлгүүрийг хардаг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35240" y="2286000"/>
            <a:ext cx="3870655" cy="3566160"/>
          </a:xfrm>
          <a:prstGeom prst="roundRect">
            <a:avLst>
              <a:gd name="adj" fmla="val 6000"/>
            </a:avLst>
          </a:prstGeom>
          <a:solidFill>
            <a:srgbClr val="FAFAF9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2523744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78716C"/>
                </a:solidFill>
                <a:latin typeface="Segoe UI"/>
              </a:rPr>
              <a:t>ХЯНАЛТЫН БАТАЛГАА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2834640"/>
            <a:ext cx="182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D9488"/>
                </a:solidFill>
                <a:latin typeface="Segoe UI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0728" y="283464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1917"/>
                </a:solidFill>
                <a:latin typeface="Segoe UI"/>
              </a:rPr>
              <a:t>Мөнгөн дүнгийн хязгаар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0728" y="3072384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16C"/>
                </a:solidFill>
                <a:latin typeface="Segoe UI"/>
              </a:rPr>
              <a:t>3 сая ₮-аас дээш захиалга АВТОМАТААР ИЛГЭЭГДЭХГҮЙ — оператор баталгаажуулна.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3566160"/>
            <a:ext cx="182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D9488"/>
                </a:solidFill>
                <a:latin typeface="Segoe UI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10728" y="356616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1917"/>
                </a:solidFill>
                <a:latin typeface="Segoe UI"/>
              </a:rPr>
              <a:t>Дата дутуу бол дүгнэхгүй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0728" y="3803904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16C"/>
                </a:solidFill>
                <a:latin typeface="Segoe UI"/>
              </a:rPr>
              <a:t>Түүх богино эсвэл POS тасарсан бол систем санал өгөхөөс татгалзана.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4297680"/>
            <a:ext cx="182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D9488"/>
                </a:solidFill>
                <a:latin typeface="Segoe UI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0728" y="429768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1917"/>
                </a:solidFill>
                <a:latin typeface="Segoe UI"/>
              </a:rPr>
              <a:t>Бүх өөрчлөлт бүртгэгдэнэ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10728" y="4535424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16C"/>
                </a:solidFill>
                <a:latin typeface="Segoe UI"/>
              </a:rPr>
              <a:t>Хэн, хэзээ, юуг өөрчилснийг audit бүртгэлд хадгална.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5029200"/>
            <a:ext cx="182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D9488"/>
                </a:solidFill>
                <a:latin typeface="Segoe UI"/>
              </a:rPr>
              <a:t>•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10728" y="502920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1C1917"/>
                </a:solidFill>
                <a:latin typeface="Segoe UI"/>
              </a:rPr>
              <a:t>Тохируулга нь заавал зөвшөөрөгдөнө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10728" y="5266944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78716C"/>
                </a:solidFill>
                <a:latin typeface="Segoe UI"/>
              </a:rPr>
              <a:t>Параметрийн засварыг систем өөрөө хийхгүй — санал болгоод хүлээнэ.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85800" y="5742432"/>
            <a:ext cx="658368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7E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" y="5925312"/>
            <a:ext cx="6126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1C1917"/>
                </a:solidFill>
                <a:latin typeface="Segoe UI"/>
              </a:rPr>
              <a:t>451 мессеж · 1 253 сегмент · </a:t>
            </a:r>
            <a:r>
              <a:rPr sz="1050" b="0">
                <a:solidFill>
                  <a:srgbClr val="78716C"/>
                </a:solidFill>
                <a:latin typeface="Segoe UI"/>
              </a:rPr>
              <a:t>бүгд хүргэгдсэн. Одоогоор SMS гарц нь симуляц — жинхэнэ дугаар руу залгахад нэг файл солигдоно.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75488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0D9488"/>
                </a:solidFill>
                <a:latin typeface="Segoe UI"/>
              </a:rPr>
              <a:t>ХЭРЭГЖИЛТ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768096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1C1917"/>
                </a:solidFill>
                <a:latin typeface="Segoe UI"/>
              </a:rPr>
              <a:t>Юу бэлэн болсон, юу үлдсэн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65815" y="640080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8A29E"/>
                </a:solidFill>
                <a:latin typeface="Segoe U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81328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78716C"/>
                </a:solidFill>
                <a:latin typeface="Segoe UI"/>
              </a:rPr>
              <a:t>Систем аль хэдийн ажиллаж байна. Үлдсэн нь холболт ба байгууллагын тохиргоо.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212848"/>
            <a:ext cx="786384" cy="603504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395728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5064" y="22677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1917"/>
                </a:solidFill>
                <a:latin typeface="Segoe UI"/>
              </a:rPr>
              <a:t>Суурь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55064" y="2542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POS татах · (R,S) хөдөлгүүр · тохиргооны шатлал · захиалгын урсгал · экспорт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34295" y="23774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D9488"/>
                </a:solidFill>
                <a:latin typeface="Segoe UI"/>
              </a:rPr>
              <a:t>БЭЛЭН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99232"/>
            <a:ext cx="786384" cy="603504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182112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5064" y="3054096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1917"/>
                </a:solidFill>
                <a:latin typeface="Segoe UI"/>
              </a:rPr>
              <a:t>Аналитик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5064" y="332841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Буцаан шалгалт · улирлын загвар · эрүүл мэндийн оноо · авто-тохируулга (зөвшөөрөлтэй)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34295" y="316382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D9488"/>
                </a:solidFill>
                <a:latin typeface="Segoe UI"/>
              </a:rPr>
              <a:t>БЭЛЭН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85616"/>
            <a:ext cx="786384" cy="603504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68496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55064" y="3840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1917"/>
                </a:solidFill>
                <a:latin typeface="Segoe UI"/>
              </a:rPr>
              <a:t>Илгээлт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55064" y="4114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SMS гарц · бүрэн мөчлөгийн автоматжуулалт · хуваарь · гарцын консол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295" y="395020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D9488"/>
                </a:solidFill>
                <a:latin typeface="Segoe UI"/>
              </a:rPr>
              <a:t>БЭЛЭН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572000"/>
            <a:ext cx="786384" cy="603504"/>
          </a:xfrm>
          <a:prstGeom prst="roundRect">
            <a:avLst>
              <a:gd name="adj" fmla="val 6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754880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55064" y="462686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1917"/>
                </a:solidFill>
                <a:latin typeface="Segoe UI"/>
              </a:rPr>
              <a:t>Шийдвэрийн самбар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55064" y="4901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Дэлгүүр бүрийн дүгнэлт · үйлдлийн санал · квадрант · 20 дэлгүүрийн жишиг дата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34295" y="4736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0D9488"/>
                </a:solidFill>
                <a:latin typeface="Segoe UI"/>
              </a:rPr>
              <a:t>БЭЛЭН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358384"/>
            <a:ext cx="786384" cy="6035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A8A2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541264"/>
            <a:ext cx="7863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78716C"/>
                </a:solidFill>
                <a:latin typeface="Segoe UI"/>
              </a:rPr>
              <a:t>P5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55064" y="541324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C1917"/>
                </a:solidFill>
                <a:latin typeface="Segoe UI"/>
              </a:rPr>
              <a:t>Үйлдвэрлэлд гаргах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55064" y="56875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8716C"/>
                </a:solidFill>
                <a:latin typeface="Segoe UI"/>
              </a:rPr>
              <a:t>ЖИНХЭНЭ SMS/API холболт · нэвтрэлт ба эрх · хуваарийн даалгавар · Postgres руу шилжих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34295" y="55229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A8A29E"/>
                </a:solidFill>
                <a:latin typeface="Segoe UI"/>
              </a:rPr>
              <a:t>ҮЛДСЭН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6272784"/>
            <a:ext cx="10820095" cy="1"/>
          </a:xfrm>
          <a:prstGeom prst="rect">
            <a:avLst/>
          </a:prstGeom>
          <a:solidFill>
            <a:srgbClr val="E7E5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9601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D9488"/>
                </a:solidFill>
                <a:latin typeface="Segoe UI"/>
              </a:rPr>
              <a:t>ДАРААГИЙН АЛХАМ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37160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Segoe UI"/>
              </a:rPr>
              <a:t>Туршилтыг жинхэнэ дэлгүүр дээр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87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450592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3–5 дэлгүүрийн жинхэнэ POS холболт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779776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8A29E"/>
                </a:solidFill>
                <a:latin typeface="Segoe UI"/>
              </a:rPr>
              <a:t>Одоо байгаа ингест нь GS25 DCSPS схемтэй ажиллана — IP ба эрх л хэрэгтэй.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3284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Segoe U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29184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Захиалгын төвийн жинхэнэ суваг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621024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8A29E"/>
                </a:solidFill>
                <a:latin typeface="Segoe UI"/>
              </a:rPr>
              <a:t>SMS дугаар эсвэл API. Системд нэг л файл (гарц) солигдоно.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1696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Segoe U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133088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4 долоо хоногийн зэрэгцээ ажиллагаа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462272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8A29E"/>
                </a:solidFill>
                <a:latin typeface="Segoe UI"/>
              </a:rPr>
              <a:t>Систем санал болгоно, оператор шийднэ. Дараа нь хоёрын зөрүүг хэмжинэ.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0109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D9488"/>
                </a:solidFill>
                <a:latin typeface="Segoe U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974336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Segoe UI"/>
              </a:rPr>
              <a:t>Хэмжих шалгуурыг хамтдаа тогтоох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5303520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8A29E"/>
                </a:solidFill>
                <a:latin typeface="Segoe UI"/>
              </a:rPr>
              <a:t>Нөөц дуусалт, хаягдал, илүүдэл, операторын цаг — эхлэхээс өмнө тохирно.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5943600"/>
            <a:ext cx="9601200" cy="1"/>
          </a:xfrm>
          <a:prstGeom prst="rect">
            <a:avLst/>
          </a:prstGeom>
          <a:solidFill>
            <a:srgbClr val="444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6144768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A8A29E"/>
                </a:solidFill>
                <a:latin typeface="Segoe UI"/>
              </a:rPr>
              <a:t>Одоогийн байдлаар: 20 дэлгүүр · 1 022 бараа · 42 059 захиалгын мөр · 99.8% үйлчилгээний түвшин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